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nton" charset="1" panose="00000500000000000000"/>
      <p:regular r:id="rId17"/>
    </p:embeddedFont>
    <p:embeddedFont>
      <p:font typeface="Gotham Bold" charset="1" panose="00000000000000000000"/>
      <p:regular r:id="rId18"/>
    </p:embeddedFont>
    <p:embeddedFont>
      <p:font typeface="Gotham" charset="1" panose="00000000000000000000"/>
      <p:regular r:id="rId19"/>
    </p:embeddedFont>
    <p:embeddedFont>
      <p:font typeface="Open Sauce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5160390" y="-3301821"/>
            <a:ext cx="7574180" cy="9791426"/>
          </a:xfrm>
          <a:custGeom>
            <a:avLst/>
            <a:gdLst/>
            <a:ahLst/>
            <a:cxnLst/>
            <a:rect r="r" b="b" t="t" l="l"/>
            <a:pathLst>
              <a:path h="9791426" w="7574180">
                <a:moveTo>
                  <a:pt x="0" y="0"/>
                </a:moveTo>
                <a:lnTo>
                  <a:pt x="7574180" y="0"/>
                </a:lnTo>
                <a:lnTo>
                  <a:pt x="7574180" y="9791426"/>
                </a:lnTo>
                <a:lnTo>
                  <a:pt x="0" y="9791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854" t="0" r="-2219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900040" y="2796065"/>
            <a:ext cx="3646464" cy="4713920"/>
          </a:xfrm>
          <a:custGeom>
            <a:avLst/>
            <a:gdLst/>
            <a:ahLst/>
            <a:cxnLst/>
            <a:rect r="r" b="b" t="t" l="l"/>
            <a:pathLst>
              <a:path h="4713920" w="3646464">
                <a:moveTo>
                  <a:pt x="0" y="0"/>
                </a:moveTo>
                <a:lnTo>
                  <a:pt x="3646463" y="0"/>
                </a:lnTo>
                <a:lnTo>
                  <a:pt x="3646463" y="4713920"/>
                </a:lnTo>
                <a:lnTo>
                  <a:pt x="0" y="4713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854" t="0" r="-2219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42414" y="3072556"/>
            <a:ext cx="10924051" cy="6185744"/>
          </a:xfrm>
          <a:custGeom>
            <a:avLst/>
            <a:gdLst/>
            <a:ahLst/>
            <a:cxnLst/>
            <a:rect r="r" b="b" t="t" l="l"/>
            <a:pathLst>
              <a:path h="6185744" w="10924051">
                <a:moveTo>
                  <a:pt x="0" y="0"/>
                </a:moveTo>
                <a:lnTo>
                  <a:pt x="10924051" y="0"/>
                </a:lnTo>
                <a:lnTo>
                  <a:pt x="10924051" y="6185744"/>
                </a:lnTo>
                <a:lnTo>
                  <a:pt x="0" y="61857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690326" y="3247379"/>
            <a:ext cx="8223290" cy="5522293"/>
            <a:chOff x="0" y="0"/>
            <a:chExt cx="2165805" cy="14544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65805" cy="1454431"/>
            </a:xfrm>
            <a:custGeom>
              <a:avLst/>
              <a:gdLst/>
              <a:ahLst/>
              <a:cxnLst/>
              <a:rect r="r" b="b" t="t" l="l"/>
              <a:pathLst>
                <a:path h="1454431" w="2165805">
                  <a:moveTo>
                    <a:pt x="9415" y="0"/>
                  </a:moveTo>
                  <a:lnTo>
                    <a:pt x="2156390" y="0"/>
                  </a:lnTo>
                  <a:cubicBezTo>
                    <a:pt x="2158887" y="0"/>
                    <a:pt x="2161282" y="992"/>
                    <a:pt x="2163047" y="2757"/>
                  </a:cubicBezTo>
                  <a:cubicBezTo>
                    <a:pt x="2164813" y="4523"/>
                    <a:pt x="2165805" y="6918"/>
                    <a:pt x="2165805" y="9415"/>
                  </a:cubicBezTo>
                  <a:lnTo>
                    <a:pt x="2165805" y="1445017"/>
                  </a:lnTo>
                  <a:cubicBezTo>
                    <a:pt x="2165805" y="1447513"/>
                    <a:pt x="2164813" y="1449908"/>
                    <a:pt x="2163047" y="1451674"/>
                  </a:cubicBezTo>
                  <a:cubicBezTo>
                    <a:pt x="2161282" y="1453439"/>
                    <a:pt x="2158887" y="1454431"/>
                    <a:pt x="2156390" y="1454431"/>
                  </a:cubicBezTo>
                  <a:lnTo>
                    <a:pt x="9415" y="1454431"/>
                  </a:lnTo>
                  <a:cubicBezTo>
                    <a:pt x="6918" y="1454431"/>
                    <a:pt x="4523" y="1453439"/>
                    <a:pt x="2757" y="1451674"/>
                  </a:cubicBezTo>
                  <a:cubicBezTo>
                    <a:pt x="992" y="1449908"/>
                    <a:pt x="0" y="1447513"/>
                    <a:pt x="0" y="1445017"/>
                  </a:cubicBezTo>
                  <a:lnTo>
                    <a:pt x="0" y="9415"/>
                  </a:lnTo>
                  <a:cubicBezTo>
                    <a:pt x="0" y="6918"/>
                    <a:pt x="992" y="4523"/>
                    <a:pt x="2757" y="2757"/>
                  </a:cubicBezTo>
                  <a:cubicBezTo>
                    <a:pt x="4523" y="992"/>
                    <a:pt x="6918" y="0"/>
                    <a:pt x="94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01934">
                    <a:alpha val="100000"/>
                  </a:srgbClr>
                </a:gs>
                <a:gs pos="100000">
                  <a:srgbClr val="690B4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2165805" cy="1397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21297" y="4601147"/>
            <a:ext cx="8152952" cy="4457739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false" flipV="false" rot="-5400000">
            <a:off x="11979348" y="1310416"/>
            <a:ext cx="3011639" cy="3893259"/>
          </a:xfrm>
          <a:custGeom>
            <a:avLst/>
            <a:gdLst/>
            <a:ahLst/>
            <a:cxnLst/>
            <a:rect r="r" b="b" t="t" l="l"/>
            <a:pathLst>
              <a:path h="3893259" w="3011639">
                <a:moveTo>
                  <a:pt x="0" y="0"/>
                </a:moveTo>
                <a:lnTo>
                  <a:pt x="3011639" y="0"/>
                </a:lnTo>
                <a:lnTo>
                  <a:pt x="3011639" y="3893259"/>
                </a:lnTo>
                <a:lnTo>
                  <a:pt x="0" y="3893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2854" t="0" r="-22192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3191278" y="1310416"/>
            <a:ext cx="3011639" cy="3893259"/>
          </a:xfrm>
          <a:custGeom>
            <a:avLst/>
            <a:gdLst/>
            <a:ahLst/>
            <a:cxnLst/>
            <a:rect r="r" b="b" t="t" l="l"/>
            <a:pathLst>
              <a:path h="3893259" w="3011639">
                <a:moveTo>
                  <a:pt x="0" y="0"/>
                </a:moveTo>
                <a:lnTo>
                  <a:pt x="3011639" y="0"/>
                </a:lnTo>
                <a:lnTo>
                  <a:pt x="3011639" y="3893259"/>
                </a:lnTo>
                <a:lnTo>
                  <a:pt x="0" y="3893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2854" t="0" r="-2219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091132" y="2213709"/>
            <a:ext cx="2552594" cy="606809"/>
          </a:xfrm>
          <a:custGeom>
            <a:avLst/>
            <a:gdLst/>
            <a:ahLst/>
            <a:cxnLst/>
            <a:rect r="r" b="b" t="t" l="l"/>
            <a:pathLst>
              <a:path h="606809" w="2552594">
                <a:moveTo>
                  <a:pt x="0" y="0"/>
                </a:moveTo>
                <a:lnTo>
                  <a:pt x="2552595" y="0"/>
                </a:lnTo>
                <a:lnTo>
                  <a:pt x="2552595" y="606809"/>
                </a:lnTo>
                <a:lnTo>
                  <a:pt x="0" y="6068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88172" t="-118406" r="0" b="-8733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538538" y="2213709"/>
            <a:ext cx="2552594" cy="606809"/>
          </a:xfrm>
          <a:custGeom>
            <a:avLst/>
            <a:gdLst/>
            <a:ahLst/>
            <a:cxnLst/>
            <a:rect r="r" b="b" t="t" l="l"/>
            <a:pathLst>
              <a:path h="606809" w="2552594">
                <a:moveTo>
                  <a:pt x="0" y="0"/>
                </a:moveTo>
                <a:lnTo>
                  <a:pt x="2552594" y="0"/>
                </a:lnTo>
                <a:lnTo>
                  <a:pt x="2552594" y="606809"/>
                </a:lnTo>
                <a:lnTo>
                  <a:pt x="0" y="6068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88172" t="-118406" r="0" b="-8733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7091" y="1583125"/>
            <a:ext cx="9866535" cy="573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44"/>
              </a:lnSpc>
            </a:pPr>
            <a:r>
              <a:rPr lang="en-US" sz="13081" spc="-549">
                <a:solidFill>
                  <a:srgbClr val="501934"/>
                </a:solidFill>
                <a:latin typeface="Anton"/>
                <a:ea typeface="Anton"/>
                <a:cs typeface="Anton"/>
                <a:sym typeface="Anton"/>
              </a:rPr>
              <a:t>CHILL &amp; HEAL</a:t>
            </a:r>
          </a:p>
          <a:p>
            <a:pPr algn="l">
              <a:lnSpc>
                <a:spcPts val="15044"/>
              </a:lnSpc>
            </a:pPr>
            <a:r>
              <a:rPr lang="en-US" sz="13081" spc="-549">
                <a:solidFill>
                  <a:srgbClr val="501934"/>
                </a:solidFill>
                <a:latin typeface="Anton"/>
                <a:ea typeface="Anton"/>
                <a:cs typeface="Anton"/>
                <a:sym typeface="Anton"/>
              </a:rPr>
              <a:t>REVENUE GROWTH DASHBOARD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9344025"/>
            <a:ext cx="3146447" cy="47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3735" spc="-384" b="true">
                <a:solidFill>
                  <a:srgbClr val="501934"/>
                </a:solidFill>
                <a:latin typeface="Gotham Bold"/>
                <a:ea typeface="Gotham Bold"/>
                <a:cs typeface="Gotham Bold"/>
                <a:sym typeface="Gotham Bold"/>
              </a:rPr>
              <a:t>Pranav Chavan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966724"/>
            <a:ext cx="1761264" cy="29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</a:pPr>
            <a:r>
              <a:rPr lang="en-US" sz="2304" spc="-237" b="true">
                <a:solidFill>
                  <a:srgbClr val="501934"/>
                </a:solidFill>
                <a:latin typeface="Gotham Bold"/>
                <a:ea typeface="Gotham Bold"/>
                <a:cs typeface="Gotham Bold"/>
                <a:sym typeface="Gotham Bold"/>
              </a:rPr>
              <a:t>Prepa</a:t>
            </a:r>
            <a:r>
              <a:rPr lang="en-US" b="true" sz="2304" spc="-237">
                <a:solidFill>
                  <a:srgbClr val="501934"/>
                </a:solidFill>
                <a:latin typeface="Gotham Bold"/>
                <a:ea typeface="Gotham Bold"/>
                <a:cs typeface="Gotham Bold"/>
                <a:sym typeface="Gotham Bold"/>
              </a:rPr>
              <a:t>red by: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51090" y="3091606"/>
            <a:ext cx="4687862" cy="908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3181" b="true">
                <a:gradFill>
                  <a:gsLst>
                    <a:gs pos="0">
                      <a:srgbClr val="501934">
                        <a:alpha val="100000"/>
                      </a:srgbClr>
                    </a:gs>
                    <a:gs pos="100000">
                      <a:srgbClr val="690B41">
                        <a:alpha val="100000"/>
                      </a:srgbClr>
                    </a:gs>
                  </a:gsLst>
                  <a:lin ang="0"/>
                </a:gradFill>
                <a:latin typeface="Gotham Bold"/>
                <a:ea typeface="Gotham Bold"/>
                <a:cs typeface="Gotham Bold"/>
                <a:sym typeface="Gotham Bold"/>
              </a:rPr>
              <a:t>Excel Based MIS &amp; Data Analysis Project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04742" y="9344025"/>
            <a:ext cx="3146447" cy="47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3735" spc="-384" b="true">
                <a:solidFill>
                  <a:srgbClr val="501934"/>
                </a:solidFill>
                <a:latin typeface="Gotham Bold"/>
                <a:ea typeface="Gotham Bold"/>
                <a:cs typeface="Gotham Bold"/>
                <a:sym typeface="Gotham Bold"/>
              </a:rPr>
              <a:t>Microsoft Excel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04742" y="8966724"/>
            <a:ext cx="1761264" cy="29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</a:pPr>
            <a:r>
              <a:rPr lang="en-US" sz="2304" spc="-237" b="true">
                <a:solidFill>
                  <a:srgbClr val="501934"/>
                </a:solidFill>
                <a:latin typeface="Gotham Bold"/>
                <a:ea typeface="Gotham Bold"/>
                <a:cs typeface="Gotham Bold"/>
                <a:sym typeface="Gotham Bold"/>
              </a:rPr>
              <a:t>Tool Us</a:t>
            </a:r>
            <a:r>
              <a:rPr lang="en-US" b="true" sz="2304" spc="-237">
                <a:solidFill>
                  <a:srgbClr val="501934"/>
                </a:solidFill>
                <a:latin typeface="Gotham Bold"/>
                <a:ea typeface="Gotham Bold"/>
                <a:cs typeface="Gotham Bold"/>
                <a:sym typeface="Gotham Bold"/>
              </a:rPr>
              <a:t>ed: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0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408857" y="3605856"/>
            <a:ext cx="4930738" cy="6374150"/>
          </a:xfrm>
          <a:custGeom>
            <a:avLst/>
            <a:gdLst/>
            <a:ahLst/>
            <a:cxnLst/>
            <a:rect r="r" b="b" t="t" l="l"/>
            <a:pathLst>
              <a:path h="6374150" w="4930738">
                <a:moveTo>
                  <a:pt x="0" y="0"/>
                </a:moveTo>
                <a:lnTo>
                  <a:pt x="4930738" y="0"/>
                </a:lnTo>
                <a:lnTo>
                  <a:pt x="4930738" y="6374150"/>
                </a:lnTo>
                <a:lnTo>
                  <a:pt x="0" y="6374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854" t="0" r="-2219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6950970" y="1265994"/>
            <a:ext cx="8992159" cy="11624501"/>
          </a:xfrm>
          <a:custGeom>
            <a:avLst/>
            <a:gdLst/>
            <a:ahLst/>
            <a:cxnLst/>
            <a:rect r="r" b="b" t="t" l="l"/>
            <a:pathLst>
              <a:path h="11624501" w="8992159">
                <a:moveTo>
                  <a:pt x="0" y="0"/>
                </a:moveTo>
                <a:lnTo>
                  <a:pt x="8992159" y="0"/>
                </a:lnTo>
                <a:lnTo>
                  <a:pt x="8992159" y="11624501"/>
                </a:lnTo>
                <a:lnTo>
                  <a:pt x="0" y="11624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854" t="0" r="-2219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344871" y="1265994"/>
            <a:ext cx="8992159" cy="11624501"/>
          </a:xfrm>
          <a:custGeom>
            <a:avLst/>
            <a:gdLst/>
            <a:ahLst/>
            <a:cxnLst/>
            <a:rect r="r" b="b" t="t" l="l"/>
            <a:pathLst>
              <a:path h="11624501" w="8992159">
                <a:moveTo>
                  <a:pt x="0" y="0"/>
                </a:moveTo>
                <a:lnTo>
                  <a:pt x="8992159" y="0"/>
                </a:lnTo>
                <a:lnTo>
                  <a:pt x="8992159" y="11624501"/>
                </a:lnTo>
                <a:lnTo>
                  <a:pt x="0" y="11624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854" t="0" r="-22192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47775"/>
            <a:ext cx="6939210" cy="13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3"/>
              </a:lnSpc>
            </a:pPr>
            <a:r>
              <a:rPr lang="en-US" sz="10220" spc="-1052" b="true">
                <a:solidFill>
                  <a:srgbClr val="FFF8EE"/>
                </a:solidFill>
                <a:latin typeface="Gotham Bold"/>
                <a:ea typeface="Gotham Bold"/>
                <a:cs typeface="Gotham Bold"/>
                <a:sym typeface="Gotham Bold"/>
              </a:rPr>
              <a:t>Introd</a:t>
            </a:r>
            <a:r>
              <a:rPr lang="en-US" b="true" sz="10220" spc="-1052">
                <a:solidFill>
                  <a:srgbClr val="FFF8EE"/>
                </a:solidFill>
                <a:latin typeface="Gotham Bold"/>
                <a:ea typeface="Gotham Bold"/>
                <a:cs typeface="Gotham Bold"/>
                <a:sym typeface="Gotham Bold"/>
              </a:rPr>
              <a:t>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2977" y="2921688"/>
            <a:ext cx="15277182" cy="742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Chill</a:t>
            </a:r>
            <a:r>
              <a:rPr lang="en-US" sz="2799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&amp; Heal is a wellness service company that provides professional massage therapy services in collaboration with hotels and corporate locations.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The business employs trained therapists and offers different types of therapeutic massage services such as Ayurvedic Massage, Thai Massage, Swedish Massage, Deep Tissue Massage, and Foot Reflexology.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The company operates on a service-based revenue model where hotels or customers book therapy sessions and therapists are assigned accordingly.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To track business performance, therapist productivity, service demand, and revenue generation, a structured Excel-based MIS Dashboard was developed.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This dashboard helps the company monitor operations and take better business decisions.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0984"/>
            <a:ext cx="10814715" cy="13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3"/>
              </a:lnSpc>
            </a:pPr>
            <a:r>
              <a:rPr lang="en-US" sz="10220" spc="-1052" b="true">
                <a:solidFill>
                  <a:srgbClr val="501934"/>
                </a:solidFill>
                <a:latin typeface="Gotham Bold"/>
                <a:ea typeface="Gotham Bold"/>
                <a:cs typeface="Gotham Bold"/>
                <a:sym typeface="Gotham Bold"/>
              </a:rPr>
              <a:t>Probl</a:t>
            </a:r>
            <a:r>
              <a:rPr lang="en-US" b="true" sz="10220" spc="-1052">
                <a:solidFill>
                  <a:srgbClr val="501934"/>
                </a:solidFill>
                <a:latin typeface="Gotham Bold"/>
                <a:ea typeface="Gotham Bold"/>
                <a:cs typeface="Gotham Bold"/>
                <a:sym typeface="Gotham Bold"/>
              </a:rPr>
              <a:t>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8982" y="2843180"/>
            <a:ext cx="16850035" cy="5965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Before creating this dashboard, the company faced several operational challenges:</a:t>
            </a:r>
          </a:p>
          <a:p>
            <a:pPr algn="l" marL="0" indent="0" lvl="0">
              <a:lnSpc>
                <a:spcPts val="5283"/>
              </a:lnSpc>
            </a:pP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• Service data was recorded manually without structured analysis</a:t>
            </a: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• Difficulty in tracking therapist performance</a:t>
            </a: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• No clear visibility of revenue from each hotel partner</a:t>
            </a: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• No insights into which massage services were most popular</a:t>
            </a: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• Time consuming process to analyze monthly business performance</a:t>
            </a:r>
          </a:p>
          <a:p>
            <a:pPr algn="l" marL="0" indent="0" lvl="0">
              <a:lnSpc>
                <a:spcPts val="5283"/>
              </a:lnSpc>
            </a:pP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Due to these issues, decision making was slow and business insights were limited.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50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0984"/>
            <a:ext cx="13592352" cy="13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3"/>
              </a:lnSpc>
            </a:pPr>
            <a:r>
              <a:rPr lang="en-US" sz="10220" spc="-1052" b="true">
                <a:solidFill>
                  <a:srgbClr val="FFF8EE"/>
                </a:solidFill>
                <a:latin typeface="Gotham Bold"/>
                <a:ea typeface="Gotham Bold"/>
                <a:cs typeface="Gotham Bold"/>
                <a:sym typeface="Gotham Bold"/>
              </a:rPr>
              <a:t>Obj</a:t>
            </a:r>
            <a:r>
              <a:rPr lang="en-US" b="true" sz="10220" spc="-1052">
                <a:solidFill>
                  <a:srgbClr val="FFF8EE"/>
                </a:solidFill>
                <a:latin typeface="Gotham Bold"/>
                <a:ea typeface="Gotham Bold"/>
                <a:cs typeface="Gotham Bold"/>
                <a:sym typeface="Gotham Bold"/>
              </a:rPr>
              <a:t>ectives of the Project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6081" y="2569367"/>
            <a:ext cx="17535839" cy="740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28"/>
              </a:lnSpc>
            </a:pPr>
            <a:r>
              <a:rPr lang="en-US" sz="3200" spc="-153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The main objective of this project was to build a dynamic Excel MIS Dashboard that can analyze business performance.</a:t>
            </a:r>
          </a:p>
          <a:p>
            <a:pPr algn="l" marL="0" indent="0" lvl="0">
              <a:lnSpc>
                <a:spcPts val="4928"/>
              </a:lnSpc>
            </a:pPr>
          </a:p>
          <a:p>
            <a:pPr algn="l" marL="0" indent="0" lvl="0">
              <a:lnSpc>
                <a:spcPts val="4928"/>
              </a:lnSpc>
            </a:pPr>
            <a:r>
              <a:rPr lang="en-US" sz="3200" spc="-153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Key objectives include:</a:t>
            </a:r>
          </a:p>
          <a:p>
            <a:pPr algn="l" marL="0" indent="0" lvl="0">
              <a:lnSpc>
                <a:spcPts val="4928"/>
              </a:lnSpc>
            </a:pPr>
            <a:r>
              <a:rPr lang="en-US" sz="3200" spc="-153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• Organize raw service transaction data into a structured dataset</a:t>
            </a:r>
          </a:p>
          <a:p>
            <a:pPr algn="l" marL="0" indent="0" lvl="0">
              <a:lnSpc>
                <a:spcPts val="4928"/>
              </a:lnSpc>
            </a:pPr>
            <a:r>
              <a:rPr lang="en-US" sz="3200" spc="-153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• Track revenue generated from different massage services</a:t>
            </a:r>
          </a:p>
          <a:p>
            <a:pPr algn="l" marL="0" indent="0" lvl="0">
              <a:lnSpc>
                <a:spcPts val="4928"/>
              </a:lnSpc>
            </a:pPr>
            <a:r>
              <a:rPr lang="en-US" sz="3200" spc="-153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• Analyze hotel-wise revenue contribution</a:t>
            </a:r>
          </a:p>
          <a:p>
            <a:pPr algn="l" marL="0" indent="0" lvl="0">
              <a:lnSpc>
                <a:spcPts val="4928"/>
              </a:lnSpc>
            </a:pPr>
            <a:r>
              <a:rPr lang="en-US" sz="3200" spc="-153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• Monitor therapist performance and service count</a:t>
            </a:r>
          </a:p>
          <a:p>
            <a:pPr algn="l" marL="0" indent="0" lvl="0">
              <a:lnSpc>
                <a:spcPts val="4928"/>
              </a:lnSpc>
            </a:pPr>
            <a:r>
              <a:rPr lang="en-US" sz="3200" spc="-153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• Identify top performing services and partners</a:t>
            </a:r>
          </a:p>
          <a:p>
            <a:pPr algn="l" marL="0" indent="0" lvl="0">
              <a:lnSpc>
                <a:spcPts val="4928"/>
              </a:lnSpc>
            </a:pPr>
            <a:r>
              <a:rPr lang="en-US" sz="3200" spc="-153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• Create an interactive dashboard using Pivot Tables, Charts and Slicers</a:t>
            </a:r>
          </a:p>
          <a:p>
            <a:pPr algn="l" marL="0" indent="0" lvl="0">
              <a:lnSpc>
                <a:spcPts val="4928"/>
              </a:lnSpc>
            </a:pPr>
          </a:p>
          <a:p>
            <a:pPr algn="l" marL="0" indent="0" lvl="0">
              <a:lnSpc>
                <a:spcPts val="4928"/>
              </a:lnSpc>
            </a:pPr>
            <a:r>
              <a:rPr lang="en-US" sz="3200" spc="-153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The final dashboard allows quick filtering and visual analysis of the entire dataset.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4674" y="702844"/>
            <a:ext cx="16983057" cy="110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7"/>
              </a:lnSpc>
            </a:pPr>
            <a:r>
              <a:rPr lang="en-US" sz="8554" spc="-881" b="true">
                <a:solidFill>
                  <a:srgbClr val="501934"/>
                </a:solidFill>
                <a:latin typeface="Gotham Bold"/>
                <a:ea typeface="Gotham Bold"/>
                <a:cs typeface="Gotham Bold"/>
                <a:sym typeface="Gotham Bold"/>
              </a:rPr>
              <a:t>Data</a:t>
            </a:r>
            <a:r>
              <a:rPr lang="en-US" b="true" sz="8554" spc="-881">
                <a:solidFill>
                  <a:srgbClr val="501934"/>
                </a:solidFill>
                <a:latin typeface="Gotham Bold"/>
                <a:ea typeface="Gotham Bold"/>
                <a:cs typeface="Gotham Bold"/>
                <a:sym typeface="Gotham Bold"/>
              </a:rPr>
              <a:t> Overview &amp; Dataset Information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1048090" y="1640834"/>
            <a:ext cx="6965386" cy="9004415"/>
          </a:xfrm>
          <a:custGeom>
            <a:avLst/>
            <a:gdLst/>
            <a:ahLst/>
            <a:cxnLst/>
            <a:rect r="r" b="b" t="t" l="l"/>
            <a:pathLst>
              <a:path h="9004415" w="6965386">
                <a:moveTo>
                  <a:pt x="0" y="0"/>
                </a:moveTo>
                <a:lnTo>
                  <a:pt x="6965385" y="0"/>
                </a:lnTo>
                <a:lnTo>
                  <a:pt x="6965385" y="9004415"/>
                </a:lnTo>
                <a:lnTo>
                  <a:pt x="0" y="9004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854" t="0" r="-2219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42248" y="3099140"/>
            <a:ext cx="2977070" cy="49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</a:pPr>
            <a:r>
              <a:rPr lang="en-US" sz="3948" spc="-406" b="true">
                <a:solidFill>
                  <a:srgbClr val="FFF8EE"/>
                </a:solidFill>
                <a:latin typeface="Gotham Bold"/>
                <a:ea typeface="Gotham Bold"/>
                <a:cs typeface="Gotham Bold"/>
                <a:sym typeface="Gotham Bold"/>
              </a:rPr>
              <a:t>Dataset Fields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9215" y="3968877"/>
            <a:ext cx="8403136" cy="528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4220"/>
              </a:lnSpc>
              <a:buFont typeface="Arial"/>
              <a:buChar char="•"/>
            </a:pPr>
            <a:r>
              <a:rPr lang="en-US" sz="2100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ransaction ID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 – Unique identifier for each service</a:t>
            </a:r>
          </a:p>
          <a:p>
            <a:pPr algn="l" marL="453390" indent="-226695" lvl="1">
              <a:lnSpc>
                <a:spcPts val="4220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Date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– D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te on which the service was performed</a:t>
            </a:r>
          </a:p>
          <a:p>
            <a:pPr algn="l" marL="453390" indent="-226695" lvl="1">
              <a:lnSpc>
                <a:spcPts val="4220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Month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– M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h of the transaction for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 time-based analysis</a:t>
            </a:r>
          </a:p>
          <a:p>
            <a:pPr algn="l" marL="453390" indent="-226695" lvl="1">
              <a:lnSpc>
                <a:spcPts val="4220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Hotel 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me – Hotel partner where the service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 was provided</a:t>
            </a:r>
          </a:p>
          <a:p>
            <a:pPr algn="l" marL="453390" indent="-226695" lvl="1">
              <a:lnSpc>
                <a:spcPts val="4220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Cu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sto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er I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 – Unique identifier for customers</a:t>
            </a:r>
          </a:p>
          <a:p>
            <a:pPr algn="l" marL="453390" indent="-226695" lvl="1">
              <a:lnSpc>
                <a:spcPts val="4220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herapist 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Nam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– Therapist who performed the service</a:t>
            </a:r>
          </a:p>
          <a:p>
            <a:pPr algn="l" marL="453390" indent="-226695" lvl="1">
              <a:lnSpc>
                <a:spcPts val="4220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Service T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ype – Type of massage service provided</a:t>
            </a:r>
          </a:p>
          <a:p>
            <a:pPr algn="l" marL="453390" indent="-226695" lvl="1">
              <a:lnSpc>
                <a:spcPts val="4220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Price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– Service p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e charged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 to the customer</a:t>
            </a:r>
          </a:p>
          <a:p>
            <a:pPr algn="l" marL="453390" indent="-226695" lvl="1">
              <a:lnSpc>
                <a:spcPts val="4220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Th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era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st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 Payment – Payment given to the therapist</a:t>
            </a:r>
          </a:p>
          <a:p>
            <a:pPr algn="l" marL="453390" indent="-226695" lvl="1">
              <a:lnSpc>
                <a:spcPts val="4220"/>
              </a:lnSpc>
              <a:buFont typeface="Arial"/>
              <a:buChar char="•"/>
            </a:pP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mp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ny P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00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ofit – Profit retained by the company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10274525" y="1640834"/>
            <a:ext cx="6965386" cy="9004415"/>
          </a:xfrm>
          <a:custGeom>
            <a:avLst/>
            <a:gdLst/>
            <a:ahLst/>
            <a:cxnLst/>
            <a:rect r="r" b="b" t="t" l="l"/>
            <a:pathLst>
              <a:path h="9004415" w="6965386">
                <a:moveTo>
                  <a:pt x="0" y="0"/>
                </a:moveTo>
                <a:lnTo>
                  <a:pt x="6965385" y="0"/>
                </a:lnTo>
                <a:lnTo>
                  <a:pt x="6965385" y="9004415"/>
                </a:lnTo>
                <a:lnTo>
                  <a:pt x="0" y="9004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854" t="0" r="-2219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268683" y="3099140"/>
            <a:ext cx="2977070" cy="49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</a:pPr>
            <a:r>
              <a:rPr lang="en-US" sz="3948" spc="-406" b="true">
                <a:solidFill>
                  <a:srgbClr val="FFF8EE"/>
                </a:solidFill>
                <a:latin typeface="Gotham Bold"/>
                <a:ea typeface="Gotham Bold"/>
                <a:cs typeface="Gotham Bold"/>
                <a:sym typeface="Gotham Bold"/>
              </a:rPr>
              <a:t>Dataset Size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23377" y="4215472"/>
            <a:ext cx="5867681" cy="36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3"/>
              </a:lnSpc>
            </a:pP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otal 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ecords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 500+</a:t>
            </a:r>
          </a:p>
          <a:p>
            <a:pPr algn="l">
              <a:lnSpc>
                <a:spcPts val="4913"/>
              </a:lnSpc>
            </a:pP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ota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ervices: 9</a:t>
            </a:r>
          </a:p>
          <a:p>
            <a:pPr algn="l">
              <a:lnSpc>
                <a:spcPts val="4913"/>
              </a:lnSpc>
            </a:pP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Total Therapists: 10+</a:t>
            </a:r>
          </a:p>
          <a:p>
            <a:pPr algn="l">
              <a:lnSpc>
                <a:spcPts val="4913"/>
              </a:lnSpc>
            </a:pP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art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er Ho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Mult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ip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e 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otels</a:t>
            </a:r>
          </a:p>
          <a:p>
            <a:pPr algn="l">
              <a:lnSpc>
                <a:spcPts val="4913"/>
              </a:lnSpc>
            </a:pP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Time Period: Jan 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2025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 – 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ay </a:t>
            </a: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2025</a:t>
            </a:r>
          </a:p>
          <a:p>
            <a:pPr algn="l">
              <a:lnSpc>
                <a:spcPts val="4913"/>
              </a:lnSpc>
            </a:pPr>
            <a:r>
              <a:rPr lang="en-US" sz="2444" strike="noStrike" u="none">
                <a:solidFill>
                  <a:srgbClr val="FFF8EE"/>
                </a:solidFill>
                <a:latin typeface="Open Sauce"/>
                <a:ea typeface="Open Sauce"/>
                <a:cs typeface="Open Sauce"/>
                <a:sym typeface="Open Sauce"/>
              </a:rPr>
              <a:t>No of Sheets  : 6 Sheets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50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89757"/>
            <a:ext cx="15252807" cy="13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3"/>
              </a:lnSpc>
            </a:pPr>
            <a:r>
              <a:rPr lang="en-US" sz="10220" spc="-1052" b="true">
                <a:solidFill>
                  <a:srgbClr val="FFF8EE"/>
                </a:solidFill>
                <a:latin typeface="Gotham Bold"/>
                <a:ea typeface="Gotham Bold"/>
                <a:cs typeface="Gotham Bold"/>
                <a:sym typeface="Gotham Bold"/>
              </a:rPr>
              <a:t>Data Cl</a:t>
            </a:r>
            <a:r>
              <a:rPr lang="en-US" b="true" sz="10220" spc="-1052">
                <a:solidFill>
                  <a:srgbClr val="FFF8EE"/>
                </a:solidFill>
                <a:latin typeface="Gotham Bold"/>
                <a:ea typeface="Gotham Bold"/>
                <a:cs typeface="Gotham Bold"/>
                <a:sym typeface="Gotham Bold"/>
              </a:rPr>
              <a:t>eaning &amp; Preparation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5559" y="2262722"/>
            <a:ext cx="17636882" cy="751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01"/>
              </a:lnSpc>
            </a:pP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Key 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Da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C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leani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ng St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ps :</a:t>
            </a:r>
          </a:p>
          <a:p>
            <a:pPr algn="l" marL="0" indent="0" lvl="0">
              <a:lnSpc>
                <a:spcPts val="4301"/>
              </a:lnSpc>
            </a:pPr>
          </a:p>
          <a:p>
            <a:pPr algn="l" marL="0" indent="0" lvl="0">
              <a:lnSpc>
                <a:spcPts val="4301"/>
              </a:lnSpc>
            </a:pP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•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 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tan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rdiza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tion 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– Mixed 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dat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 form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ts were converted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into a 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consi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st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en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Exc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l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date 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format for proper time-based analysis.</a:t>
            </a:r>
          </a:p>
          <a:p>
            <a:pPr algn="l" marL="0" indent="0" lvl="0">
              <a:lnSpc>
                <a:spcPts val="4301"/>
              </a:lnSpc>
            </a:pP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• Duplicate Customer Identification – Conditional formatting was applied to highlight duplicate Customer IDs, helping identify repeat customers.</a:t>
            </a:r>
          </a:p>
          <a:p>
            <a:pPr algn="l" marL="0" indent="0" lvl="0">
              <a:lnSpc>
                <a:spcPts val="4301"/>
              </a:lnSpc>
            </a:pP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• Conditional Formatting – Applied to important columns such as Service Type,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Price, and Company Profit to visually highlight key data patterns.</a:t>
            </a:r>
          </a:p>
          <a:p>
            <a:pPr algn="l" marL="0" indent="0" lvl="0">
              <a:lnSpc>
                <a:spcPts val="4301"/>
              </a:lnSpc>
            </a:pP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• Data Validation Columns Added – Two additional columns were created to verify data accuracy:</a:t>
            </a:r>
          </a:p>
          <a:p>
            <a:pPr algn="l" marL="603032" indent="-301516" lvl="1">
              <a:lnSpc>
                <a:spcPts val="4301"/>
              </a:lnSpc>
              <a:buFont typeface="Arial"/>
              <a:buChar char="•"/>
            </a:pP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Service Price Check – Validates service pricing</a:t>
            </a:r>
          </a:p>
          <a:p>
            <a:pPr algn="l" marL="603032" indent="-301516" lvl="1">
              <a:lnSpc>
                <a:spcPts val="4301"/>
              </a:lnSpc>
              <a:buFont typeface="Arial"/>
              <a:buChar char="•"/>
            </a:pP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Profit Validation – Ensures profit is calculated correctly</a:t>
            </a:r>
          </a:p>
          <a:p>
            <a:pPr algn="l" marL="603032" indent="-301516" lvl="1">
              <a:lnSpc>
                <a:spcPts val="4301"/>
              </a:lnSpc>
              <a:buFont typeface="Arial"/>
              <a:buChar char="•"/>
            </a:pP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(Profit = Service Price − Therapist Payment)</a:t>
            </a:r>
          </a:p>
          <a:p>
            <a:pPr algn="l">
              <a:lnSpc>
                <a:spcPts val="4206"/>
              </a:lnSpc>
            </a:pPr>
          </a:p>
          <a:p>
            <a:pPr algn="l" marL="0" indent="0" lvl="0">
              <a:lnSpc>
                <a:spcPts val="4301"/>
              </a:lnSpc>
            </a:pP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The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se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steps he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l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pe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prep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ar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a cle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n and 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rel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ia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b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l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as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et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f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o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 building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the 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n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aly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ti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cal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da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shbo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rd</a:t>
            </a:r>
            <a:r>
              <a:rPr lang="en-US" sz="2793" spc="-13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0984"/>
            <a:ext cx="8852937" cy="13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3"/>
              </a:lnSpc>
            </a:pPr>
            <a:r>
              <a:rPr lang="en-US" sz="10220" spc="-1052" b="true">
                <a:solidFill>
                  <a:srgbClr val="501934"/>
                </a:solidFill>
                <a:latin typeface="Gotham Bold"/>
                <a:ea typeface="Gotham Bold"/>
                <a:cs typeface="Gotham Bold"/>
                <a:sym typeface="Gotham Bold"/>
              </a:rPr>
              <a:t>Dashb</a:t>
            </a:r>
            <a:r>
              <a:rPr lang="en-US" b="true" sz="10220" spc="-1052">
                <a:solidFill>
                  <a:srgbClr val="501934"/>
                </a:solidFill>
                <a:latin typeface="Gotham Bold"/>
                <a:ea typeface="Gotham Bold"/>
                <a:cs typeface="Gotham Bold"/>
                <a:sym typeface="Gotham Bold"/>
              </a:rPr>
              <a:t>oard KPIs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8982" y="2577708"/>
            <a:ext cx="16850035" cy="729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3"/>
              </a:lnSpc>
            </a:pPr>
            <a:r>
              <a:rPr lang="en-US" sz="3545" spc="-152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h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dashboard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was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signed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o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tr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ac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k k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y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bu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in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ss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per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f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o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rm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n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ce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i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n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icat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ors.</a:t>
            </a:r>
          </a:p>
          <a:p>
            <a:pPr algn="l" marL="0" indent="0" lvl="0">
              <a:lnSpc>
                <a:spcPts val="5283"/>
              </a:lnSpc>
            </a:pP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M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in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KPI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s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in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c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lu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ded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:</a:t>
            </a: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•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Tot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al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Reven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u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Gene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ted</a:t>
            </a: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• Total Services Performed</a:t>
            </a: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• Total Company Profit</a:t>
            </a: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• Average Revenue per Service</a:t>
            </a:r>
          </a:p>
          <a:p>
            <a:pPr algn="l" marL="0" indent="0" lvl="0">
              <a:lnSpc>
                <a:spcPts val="5283"/>
              </a:lnSpc>
            </a:pP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These KPI cards provide a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quick overview of business performance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and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he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lp manag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ment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u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n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de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an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over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l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l business g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ro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wt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h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.</a:t>
            </a:r>
          </a:p>
          <a:p>
            <a:pPr algn="l" marL="0" indent="0" lvl="0">
              <a:lnSpc>
                <a:spcPts val="528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50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0984"/>
            <a:ext cx="6602835" cy="13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3"/>
              </a:lnSpc>
            </a:pPr>
            <a:r>
              <a:rPr lang="en-US" sz="10220" spc="-1052" b="true">
                <a:solidFill>
                  <a:srgbClr val="FFF8EE"/>
                </a:solidFill>
                <a:latin typeface="Gotham Bold"/>
                <a:ea typeface="Gotham Bold"/>
                <a:cs typeface="Gotham Bold"/>
                <a:sym typeface="Gotham Bold"/>
              </a:rPr>
              <a:t>K</a:t>
            </a:r>
            <a:r>
              <a:rPr lang="en-US" b="true" sz="10220" spc="-1052">
                <a:solidFill>
                  <a:srgbClr val="FFF8EE"/>
                </a:solidFill>
                <a:latin typeface="Gotham Bold"/>
                <a:ea typeface="Gotham Bold"/>
                <a:cs typeface="Gotham Bold"/>
                <a:sym typeface="Gotham Bold"/>
              </a:rPr>
              <a:t>ey Insights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5493" y="3512184"/>
            <a:ext cx="17117014" cy="520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3"/>
              </a:lnSpc>
            </a:pPr>
            <a:r>
              <a:rPr lang="en-US" sz="3008" spc="-144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B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ased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on the analysis,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evera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l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im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porta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nt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nsi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ght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w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dentifi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ed:</a:t>
            </a:r>
          </a:p>
          <a:p>
            <a:pPr algn="l" marL="0" indent="0" lvl="0">
              <a:lnSpc>
                <a:spcPts val="4633"/>
              </a:lnSpc>
            </a:pPr>
          </a:p>
          <a:p>
            <a:pPr algn="l" marL="0" indent="0" lvl="0">
              <a:lnSpc>
                <a:spcPts val="4633"/>
              </a:lnSpc>
            </a:pP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•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C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rt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in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m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as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ag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serv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ices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gen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ate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hig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h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re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venu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 com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pa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ed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to ot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hers</a:t>
            </a:r>
          </a:p>
          <a:p>
            <a:pPr algn="l" marL="0" indent="0" lvl="0">
              <a:lnSpc>
                <a:spcPts val="4633"/>
              </a:lnSpc>
            </a:pP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•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A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few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p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rtn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h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o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ls c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ont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ri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but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significan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p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o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rtio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n of to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al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v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en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ue</a:t>
            </a:r>
          </a:p>
          <a:p>
            <a:pPr algn="l" marL="0" indent="0" lvl="0">
              <a:lnSpc>
                <a:spcPts val="4633"/>
              </a:lnSpc>
            </a:pP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•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ome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ther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p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ts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p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f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or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m sign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if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ca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ntl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y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mo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re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v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ice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ha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n o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h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</a:p>
          <a:p>
            <a:pPr algn="l" marL="0" indent="0" lvl="0">
              <a:lnSpc>
                <a:spcPts val="4633"/>
              </a:lnSpc>
            </a:pP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• 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even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ue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tre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nd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 fl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u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c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uate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epending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o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n m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o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n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h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and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ervice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m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an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</a:p>
          <a:p>
            <a:pPr algn="l">
              <a:lnSpc>
                <a:spcPts val="4633"/>
              </a:lnSpc>
            </a:pPr>
          </a:p>
          <a:p>
            <a:pPr algn="l" marL="0" indent="0" lvl="0">
              <a:lnSpc>
                <a:spcPts val="4633"/>
              </a:lnSpc>
            </a:pP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These ins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igh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ts help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th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com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pany optimize therapist alloca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tio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n and focus on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h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igh demand servic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s.</a:t>
            </a:r>
          </a:p>
          <a:p>
            <a:pPr algn="l" marL="0" indent="0" lvl="0">
              <a:lnSpc>
                <a:spcPts val="463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0984"/>
            <a:ext cx="8947785" cy="13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3"/>
              </a:lnSpc>
            </a:pPr>
            <a:r>
              <a:rPr lang="en-US" sz="10220" spc="-1052" b="true">
                <a:solidFill>
                  <a:srgbClr val="501934"/>
                </a:solidFill>
                <a:latin typeface="Gotham Bold"/>
                <a:ea typeface="Gotham Bold"/>
                <a:cs typeface="Gotham Bold"/>
                <a:sym typeface="Gotham Bold"/>
              </a:rPr>
              <a:t>Busin</a:t>
            </a:r>
            <a:r>
              <a:rPr lang="en-US" b="true" sz="10220" spc="-1052">
                <a:solidFill>
                  <a:srgbClr val="501934"/>
                </a:solidFill>
                <a:latin typeface="Gotham Bold"/>
                <a:ea typeface="Gotham Bold"/>
                <a:cs typeface="Gotham Bold"/>
                <a:sym typeface="Gotham Bold"/>
              </a:rPr>
              <a:t>ess Impact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8982" y="2909549"/>
            <a:ext cx="16850035" cy="5965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3"/>
              </a:lnSpc>
            </a:pPr>
            <a:r>
              <a:rPr lang="en-US" sz="3545" spc="-152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Th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Ex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ce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l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dashboard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helps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the company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in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mu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lti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p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l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w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y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s:</a:t>
            </a:r>
          </a:p>
          <a:p>
            <a:pPr algn="l" marL="0" indent="0" lvl="0">
              <a:lnSpc>
                <a:spcPts val="5283"/>
              </a:lnSpc>
            </a:pP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•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al-t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m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visibili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y of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busines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s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pe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f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orman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ce</a:t>
            </a: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•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Fa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ste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analysis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of service demand and revenue</a:t>
            </a: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• Improved tracking of therapist productivity</a:t>
            </a: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• Better understanding of hotel partnership performance</a:t>
            </a: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• Data driven decision making for business expansion</a:t>
            </a:r>
          </a:p>
          <a:p>
            <a:pPr algn="l" marL="0" indent="0" lvl="0">
              <a:lnSpc>
                <a:spcPts val="5283"/>
              </a:lnSpc>
            </a:pP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This solution transforms raw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se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rv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c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 d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ata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in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to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m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n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ing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fu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l business insights.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50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0984"/>
            <a:ext cx="6757201" cy="13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3"/>
              </a:lnSpc>
            </a:pPr>
            <a:r>
              <a:rPr lang="en-US" sz="10220" spc="-1052" b="true">
                <a:solidFill>
                  <a:srgbClr val="FFF8EE"/>
                </a:solidFill>
                <a:latin typeface="Gotham Bold"/>
                <a:ea typeface="Gotham Bold"/>
                <a:cs typeface="Gotham Bold"/>
                <a:sym typeface="Gotham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5493" y="3512184"/>
            <a:ext cx="17117014" cy="520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3"/>
              </a:lnSpc>
            </a:pPr>
            <a:r>
              <a:rPr lang="en-US" sz="3008" spc="-144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Thi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pr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oject demonstrates how Microsoft Excel can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be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used as a power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ful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tool for busine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ss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analytics.</a:t>
            </a:r>
          </a:p>
          <a:p>
            <a:pPr algn="l" marL="0" indent="0" lvl="0">
              <a:lnSpc>
                <a:spcPts val="4633"/>
              </a:lnSpc>
            </a:pPr>
          </a:p>
          <a:p>
            <a:pPr algn="l" marL="0" indent="0" lvl="0">
              <a:lnSpc>
                <a:spcPts val="4633"/>
              </a:lnSpc>
            </a:pP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By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or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ga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n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izing raw op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rational data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nd cre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at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ing an in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teractive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dashboard, the company can now monitor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p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f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or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mance ef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f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i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cie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ntl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y.</a:t>
            </a:r>
          </a:p>
          <a:p>
            <a:pPr algn="l" marL="0" indent="0" lvl="0">
              <a:lnSpc>
                <a:spcPts val="4633"/>
              </a:lnSpc>
            </a:pPr>
          </a:p>
          <a:p>
            <a:pPr algn="l" marL="0" indent="0" lvl="0">
              <a:lnSpc>
                <a:spcPts val="4633"/>
              </a:lnSpc>
            </a:pP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The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dashboa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rd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simplif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ie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c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ompl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ex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dat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 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and</a:t>
            </a:r>
            <a:r>
              <a:rPr lang="en-US" sz="3008" spc="-144" strike="noStrike" u="none">
                <a:solidFill>
                  <a:srgbClr val="FFF8EE"/>
                </a:solidFill>
                <a:latin typeface="Gotham"/>
                <a:ea typeface="Gotham"/>
                <a:cs typeface="Gotham"/>
                <a:sym typeface="Gotham"/>
              </a:rPr>
              <a:t> provides clear visual insights that support operational and strategic decision making.</a:t>
            </a:r>
          </a:p>
          <a:p>
            <a:pPr algn="l" marL="0" indent="0" lvl="0">
              <a:lnSpc>
                <a:spcPts val="4633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0984"/>
            <a:ext cx="12044962" cy="13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3"/>
              </a:lnSpc>
            </a:pPr>
            <a:r>
              <a:rPr lang="en-US" sz="10220" spc="-1052" b="true">
                <a:solidFill>
                  <a:srgbClr val="501934"/>
                </a:solidFill>
                <a:latin typeface="Gotham Bold"/>
                <a:ea typeface="Gotham Bold"/>
                <a:cs typeface="Gotham Bold"/>
                <a:sym typeface="Gotham Bold"/>
              </a:rPr>
              <a:t>Futur</a:t>
            </a:r>
            <a:r>
              <a:rPr lang="en-US" b="true" sz="10220" spc="-1052">
                <a:solidFill>
                  <a:srgbClr val="501934"/>
                </a:solidFill>
                <a:latin typeface="Gotham Bold"/>
                <a:ea typeface="Gotham Bold"/>
                <a:cs typeface="Gotham Bold"/>
                <a:sym typeface="Gotham Bold"/>
              </a:rPr>
              <a:t>e Enhancements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8982" y="2909549"/>
            <a:ext cx="16850035" cy="6632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3"/>
              </a:lnSpc>
            </a:pPr>
            <a:r>
              <a:rPr lang="en-US" sz="3545" spc="-152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Th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 dashboard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can b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 further improved wi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th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additional feature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such as:</a:t>
            </a:r>
          </a:p>
          <a:p>
            <a:pPr algn="l" marL="0" indent="0" lvl="0">
              <a:lnSpc>
                <a:spcPts val="5283"/>
              </a:lnSpc>
            </a:pP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• Integration with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P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o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w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r BI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for advance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d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visualizati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on</a:t>
            </a: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• Automated data updates using Excel Power Query</a:t>
            </a: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• Forecasting future revenue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trends</a:t>
            </a: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• Customer feedback analysi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• Pr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o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fi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marg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in an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alysi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s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for 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diffe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r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ent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services</a:t>
            </a:r>
          </a:p>
          <a:p>
            <a:pPr algn="l" marL="0" indent="0" lvl="0">
              <a:lnSpc>
                <a:spcPts val="5283"/>
              </a:lnSpc>
            </a:pPr>
          </a:p>
          <a:p>
            <a:pPr algn="l" marL="0" indent="0" lvl="0">
              <a:lnSpc>
                <a:spcPts val="5283"/>
              </a:lnSpc>
            </a:pP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These enhancemen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ts ca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n fu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rther improve</a:t>
            </a:r>
            <a:r>
              <a:rPr lang="en-US" sz="3545" spc="-152" strike="noStrike" u="none">
                <a:solidFill>
                  <a:srgbClr val="2B2B2B"/>
                </a:solidFill>
                <a:latin typeface="Gotham"/>
                <a:ea typeface="Gotham"/>
                <a:cs typeface="Gotham"/>
                <a:sym typeface="Gotham"/>
              </a:rPr>
              <a:t> business intelligence capabilities.</a:t>
            </a:r>
          </a:p>
          <a:p>
            <a:pPr algn="l" marL="0" indent="0" lvl="0">
              <a:lnSpc>
                <a:spcPts val="5283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DAHE1kOAI_s</dc:identifier>
  <dcterms:modified xsi:type="dcterms:W3CDTF">2011-08-01T06:04:30Z</dcterms:modified>
  <cp:revision>1</cp:revision>
  <dc:title>Chill &amp; Heal Revenue growth dashboard</dc:title>
</cp:coreProperties>
</file>